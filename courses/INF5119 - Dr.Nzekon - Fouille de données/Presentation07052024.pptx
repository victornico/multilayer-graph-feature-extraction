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7" r:id="rId12"/>
    <p:sldId id="263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384"/>
    <p:restoredTop sz="96405"/>
  </p:normalViewPr>
  <p:slideViewPr>
    <p:cSldViewPr snapToGrid="0">
      <p:cViewPr varScale="1">
        <p:scale>
          <a:sx n="159" d="100"/>
          <a:sy n="159" d="100"/>
        </p:scale>
        <p:origin x="192" y="4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5/14/24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5/14/24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5/14/24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5/14/24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5/14/24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5/14/24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5/14/24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5/14/24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5/14/24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5/14/24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5/14/24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5/14/24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5/14/24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5/14/24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5/14/24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5/14/24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5/14/24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6FA4DE-382D-E72C-FD9A-447765454B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8159" y="1257300"/>
            <a:ext cx="9499599" cy="3017921"/>
          </a:xfrm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 of cost-sensitive bank credit risk using descriptors extracted from graphs</a:t>
            </a:r>
            <a:endParaRPr lang="en-CM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67B7D8-4848-C0A3-BA3A-B8FB45CC19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520" y="4648811"/>
            <a:ext cx="7766936" cy="1096899"/>
          </a:xfrm>
        </p:spPr>
        <p:txBody>
          <a:bodyPr/>
          <a:lstStyle/>
          <a:p>
            <a:pPr algn="ctr"/>
            <a:r>
              <a:rPr lang="en-CM" dirty="0"/>
              <a:t>By:</a:t>
            </a:r>
          </a:p>
          <a:p>
            <a:pPr algn="ctr"/>
            <a:r>
              <a:rPr lang="en-CM" dirty="0"/>
              <a:t>DJIEMBOU TIENTCHEU VICTOR NICO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92AB9A5E-FD65-70CC-FE37-BBE29F104036}"/>
              </a:ext>
            </a:extLst>
          </p:cNvPr>
          <p:cNvSpPr txBox="1">
            <a:spLocks/>
          </p:cNvSpPr>
          <p:nvPr/>
        </p:nvSpPr>
        <p:spPr>
          <a:xfrm>
            <a:off x="1286520" y="193117"/>
            <a:ext cx="7766936" cy="10968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CM" sz="2400" b="1" dirty="0"/>
              <a:t>INF5119 : </a:t>
            </a:r>
            <a:r>
              <a:rPr lang="en-US" sz="2400" b="1" dirty="0"/>
              <a:t>Advanced data mining techniques and application</a:t>
            </a:r>
            <a:endParaRPr lang="en-CM" sz="2400" b="1" dirty="0"/>
          </a:p>
        </p:txBody>
      </p:sp>
    </p:spTree>
    <p:extLst>
      <p:ext uri="{BB962C8B-B14F-4D97-AF65-F5344CB8AC3E}">
        <p14:creationId xmlns:p14="http://schemas.microsoft.com/office/powerpoint/2010/main" val="2955260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000">
        <p:randomBar dir="vert"/>
      </p:transition>
    </mc:Choice>
    <mc:Fallback xmlns="">
      <p:transition spd="slow">
        <p:randomBar dir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3C6BEF-7C87-F0E8-0EA6-DF8067CB2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 of contents</a:t>
            </a:r>
            <a:endParaRPr lang="en-CM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663FBC-424F-15A4-2EF6-96745F4362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98171"/>
            <a:ext cx="8596668" cy="4343191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Context</a:t>
            </a:r>
          </a:p>
          <a:p>
            <a:r>
              <a:rPr lang="en-US" dirty="0"/>
              <a:t>Problem</a:t>
            </a:r>
          </a:p>
          <a:p>
            <a:r>
              <a:rPr lang="en-US" dirty="0"/>
              <a:t>Solution idea</a:t>
            </a:r>
          </a:p>
          <a:p>
            <a:pPr lvl="1"/>
            <a:r>
              <a:rPr lang="en-US" dirty="0"/>
              <a:t>Modeling of Borrowing graph</a:t>
            </a:r>
          </a:p>
          <a:p>
            <a:pPr lvl="1"/>
            <a:r>
              <a:rPr lang="en-US" dirty="0"/>
              <a:t>Extracting descriptors from graphs</a:t>
            </a:r>
          </a:p>
          <a:p>
            <a:r>
              <a:rPr lang="en-US" dirty="0"/>
              <a:t>Presentation of the Framework</a:t>
            </a:r>
          </a:p>
          <a:p>
            <a:pPr lvl="1"/>
            <a:r>
              <a:rPr lang="en-US" dirty="0"/>
              <a:t>Model  </a:t>
            </a:r>
          </a:p>
          <a:p>
            <a:pPr lvl="1"/>
            <a:r>
              <a:rPr lang="en-US" dirty="0"/>
              <a:t>Data</a:t>
            </a:r>
          </a:p>
          <a:p>
            <a:pPr lvl="1"/>
            <a:r>
              <a:rPr lang="en-US" dirty="0"/>
              <a:t>Graph construction</a:t>
            </a:r>
          </a:p>
          <a:p>
            <a:pPr lvl="1"/>
            <a:r>
              <a:rPr lang="en-US" dirty="0"/>
              <a:t>Descriptor extraction</a:t>
            </a:r>
          </a:p>
          <a:p>
            <a:r>
              <a:rPr lang="en-US" dirty="0"/>
              <a:t>Presentation of some results</a:t>
            </a:r>
          </a:p>
          <a:p>
            <a:pPr lvl="1"/>
            <a:r>
              <a:rPr lang="en-US" dirty="0" err="1"/>
              <a:t>Visualisation</a:t>
            </a:r>
            <a:endParaRPr lang="en-US" dirty="0"/>
          </a:p>
          <a:p>
            <a:pPr lvl="1"/>
            <a:r>
              <a:rPr lang="en-US" dirty="0"/>
              <a:t>Interpretation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7714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Classement 2021 des banques camerounaises">
            <a:extLst>
              <a:ext uri="{FF2B5EF4-FFF2-40B4-BE49-F238E27FC236}">
                <a16:creationId xmlns:a16="http://schemas.microsoft.com/office/drawing/2014/main" id="{FEE34508-603C-4DB8-2E65-BB91693DC8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496" y="1789793"/>
            <a:ext cx="3390900" cy="241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3CA3B70D-F088-FD02-D3AA-096FD395E4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5396" y="1270000"/>
            <a:ext cx="4572000" cy="1765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Accueil - BACMBACM">
            <a:extLst>
              <a:ext uri="{FF2B5EF4-FFF2-40B4-BE49-F238E27FC236}">
                <a16:creationId xmlns:a16="http://schemas.microsoft.com/office/drawing/2014/main" id="{B51EE6AC-67D1-052D-53CC-6E50A7E63C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563" y="4653643"/>
            <a:ext cx="3924300" cy="2082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CCA-Bank - Logo CCA BANK | Facebook">
            <a:extLst>
              <a:ext uri="{FF2B5EF4-FFF2-40B4-BE49-F238E27FC236}">
                <a16:creationId xmlns:a16="http://schemas.microsoft.com/office/drawing/2014/main" id="{C285DDD4-CBA9-3AA7-1818-789F93ABB6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72928" y="2104571"/>
            <a:ext cx="2549072" cy="2549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La Société Commerciale de Banque Cameroun - Filiale Attijariwafa bank">
            <a:extLst>
              <a:ext uri="{FF2B5EF4-FFF2-40B4-BE49-F238E27FC236}">
                <a16:creationId xmlns:a16="http://schemas.microsoft.com/office/drawing/2014/main" id="{19CF20FC-4921-2F03-369F-516E335C8A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0100" y="4149271"/>
            <a:ext cx="3004457" cy="27087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41F62C2-87F3-8F3E-9D27-A3EC55AAF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M" dirty="0"/>
              <a:t>Context</a:t>
            </a:r>
          </a:p>
        </p:txBody>
      </p:sp>
    </p:spTree>
    <p:extLst>
      <p:ext uri="{BB962C8B-B14F-4D97-AF65-F5344CB8AC3E}">
        <p14:creationId xmlns:p14="http://schemas.microsoft.com/office/powerpoint/2010/main" val="42028802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3FE89-242F-555D-AF70-5DA6B24B5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M" dirty="0"/>
              <a:t>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30B67E-713A-83B8-34D2-F6EE2DB487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sz="3600" dirty="0"/>
              <a:t>How can financial credit risk prediction models be improved?</a:t>
            </a:r>
          </a:p>
          <a:p>
            <a:pPr lvl="1"/>
            <a:r>
              <a:rPr lang="en-US" sz="3400" dirty="0"/>
              <a:t>How can we overcome the lack of available data and the low quality of available data?</a:t>
            </a:r>
          </a:p>
          <a:p>
            <a:pPr lvl="1"/>
            <a:r>
              <a:rPr lang="en-US" sz="3400" dirty="0"/>
              <a:t>Which Machine Learning model should I choose?</a:t>
            </a:r>
          </a:p>
          <a:p>
            <a:pPr lvl="1"/>
            <a:r>
              <a:rPr lang="en-US" sz="3400" dirty="0"/>
              <a:t>How can the results of the models be explained?</a:t>
            </a:r>
          </a:p>
          <a:p>
            <a:pPr lvl="1"/>
            <a:r>
              <a:rPr lang="en-US" sz="3400" dirty="0"/>
              <a:t>How can we assess the financial costs?</a:t>
            </a:r>
          </a:p>
        </p:txBody>
      </p:sp>
    </p:spTree>
    <p:extLst>
      <p:ext uri="{BB962C8B-B14F-4D97-AF65-F5344CB8AC3E}">
        <p14:creationId xmlns:p14="http://schemas.microsoft.com/office/powerpoint/2010/main" val="1302917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8BFCE-BA1C-BC5A-21BE-E899AC234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 idea</a:t>
            </a:r>
            <a:endParaRPr lang="en-CM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636757-98F4-8167-AEBA-EA85BC5602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Modeling the history of bank loans in graphs </a:t>
            </a:r>
          </a:p>
          <a:p>
            <a:r>
              <a:rPr lang="en-US" sz="2400" dirty="0"/>
              <a:t>Analyze the complex relationships between loans</a:t>
            </a:r>
          </a:p>
          <a:p>
            <a:r>
              <a:rPr lang="en-US" sz="2400" dirty="0"/>
              <a:t>Extract attributes (descriptors) from the analysis and inject them into the initial dataset</a:t>
            </a:r>
          </a:p>
          <a:p>
            <a:r>
              <a:rPr lang="en-US" sz="2400" dirty="0"/>
              <a:t>Train several classic machine learning models on the new dataset</a:t>
            </a:r>
          </a:p>
          <a:p>
            <a:r>
              <a:rPr lang="en-US" sz="2400" dirty="0"/>
              <a:t>Analyze the importance coefficients of each attribute in the dataset to explain the results</a:t>
            </a:r>
          </a:p>
        </p:txBody>
      </p:sp>
    </p:spTree>
    <p:extLst>
      <p:ext uri="{BB962C8B-B14F-4D97-AF65-F5344CB8AC3E}">
        <p14:creationId xmlns:p14="http://schemas.microsoft.com/office/powerpoint/2010/main" val="3540568840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14456-F1D5-F8ED-3719-B9CE5C088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Multi-layer graph modeling</a:t>
            </a:r>
            <a:endParaRPr lang="en-CM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552709B-A1DE-5CD9-8656-1385E33010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98121" y="1930400"/>
            <a:ext cx="6395698" cy="4000896"/>
          </a:xfrm>
        </p:spPr>
      </p:pic>
    </p:spTree>
    <p:extLst>
      <p:ext uri="{BB962C8B-B14F-4D97-AF65-F5344CB8AC3E}">
        <p14:creationId xmlns:p14="http://schemas.microsoft.com/office/powerpoint/2010/main" val="38596977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A24A78F-A937-D468-6CDA-9D2B2825C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225878"/>
            <a:ext cx="8596668" cy="1320800"/>
          </a:xfrm>
        </p:spPr>
        <p:txBody>
          <a:bodyPr/>
          <a:lstStyle/>
          <a:p>
            <a:r>
              <a:rPr lang="en-CM" dirty="0"/>
              <a:t>Framework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D7548A4-6419-BB65-C763-7BD8377D04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432708" y="816429"/>
            <a:ext cx="8596668" cy="5951765"/>
          </a:xfrm>
        </p:spPr>
      </p:pic>
    </p:spTree>
    <p:extLst>
      <p:ext uri="{BB962C8B-B14F-4D97-AF65-F5344CB8AC3E}">
        <p14:creationId xmlns:p14="http://schemas.microsoft.com/office/powerpoint/2010/main" val="882318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5CCEC-B4DE-1760-91D2-4B8E94C88A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Data and Descriptions (GERMAN Dataset)</a:t>
            </a:r>
            <a:endParaRPr lang="en-CM" sz="32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FCD4325-109E-86B0-BDDE-5A243DA0D4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7335" y="2735036"/>
            <a:ext cx="8360529" cy="3600450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27559E5-F074-635D-B706-64384A36DE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334" y="1356850"/>
            <a:ext cx="8949346" cy="132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31124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8525F4E-3114-97FF-5B8C-E530C2F5B5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457" y="636814"/>
            <a:ext cx="8403957" cy="6221185"/>
          </a:xfrm>
          <a:prstGeom prst="rect">
            <a:avLst/>
          </a:prstGeom>
        </p:spPr>
      </p:pic>
      <p:sp>
        <p:nvSpPr>
          <p:cNvPr id="11" name="Title 10">
            <a:extLst>
              <a:ext uri="{FF2B5EF4-FFF2-40B4-BE49-F238E27FC236}">
                <a16:creationId xmlns:a16="http://schemas.microsoft.com/office/drawing/2014/main" id="{751844B1-3135-9B7D-77C9-93BD9CEA8C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457" y="46264"/>
            <a:ext cx="8596668" cy="1320800"/>
          </a:xfrm>
        </p:spPr>
        <p:txBody>
          <a:bodyPr/>
          <a:lstStyle/>
          <a:p>
            <a:r>
              <a:rPr lang="en-US" dirty="0"/>
              <a:t>Building a multi-layer graph</a:t>
            </a:r>
            <a:endParaRPr lang="en-CM" dirty="0"/>
          </a:p>
        </p:txBody>
      </p:sp>
    </p:spTree>
    <p:extLst>
      <p:ext uri="{BB962C8B-B14F-4D97-AF65-F5344CB8AC3E}">
        <p14:creationId xmlns:p14="http://schemas.microsoft.com/office/powerpoint/2010/main" val="35691508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151E8B6F-48AC-6BB4-3602-FA32B4667E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0575" y="2370222"/>
            <a:ext cx="5759130" cy="1320800"/>
          </a:xfrm>
        </p:spPr>
        <p:txBody>
          <a:bodyPr/>
          <a:lstStyle/>
          <a:p>
            <a:r>
              <a:rPr lang="en-CM" dirty="0"/>
              <a:t>Source Code Exploration</a:t>
            </a:r>
          </a:p>
        </p:txBody>
      </p:sp>
    </p:spTree>
    <p:extLst>
      <p:ext uri="{BB962C8B-B14F-4D97-AF65-F5344CB8AC3E}">
        <p14:creationId xmlns:p14="http://schemas.microsoft.com/office/powerpoint/2010/main" val="187344328"/>
      </p:ext>
    </p:extLst>
  </p:cSld>
  <p:clrMapOvr>
    <a:masterClrMapping/>
  </p:clrMapOvr>
  <p:transition spd="med">
    <p:pull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BA600-49AF-18A7-D559-59B13C656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0955" y="70757"/>
            <a:ext cx="8596668" cy="1320800"/>
          </a:xfrm>
        </p:spPr>
        <p:txBody>
          <a:bodyPr/>
          <a:lstStyle/>
          <a:p>
            <a:r>
              <a:rPr lang="en-US" dirty="0"/>
              <a:t>Results and interpretations</a:t>
            </a:r>
            <a:endParaRPr lang="en-CM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2F08B5E-6A78-AF88-32A1-506213B6F4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228" y="1188357"/>
            <a:ext cx="9327733" cy="5501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050342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250">
        <p15:prstTrans prst="origami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6402D99-F478-A48C-305D-92BFAA1A31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4814" y="1844548"/>
            <a:ext cx="5664200" cy="35433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1FF3229-8A6D-A5BC-DA94-EB83450B68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6370" y="0"/>
            <a:ext cx="8596668" cy="1826581"/>
          </a:xfrm>
        </p:spPr>
        <p:txBody>
          <a:bodyPr/>
          <a:lstStyle/>
          <a:p>
            <a:pPr algn="ctr"/>
            <a:r>
              <a:rPr lang="en-US" dirty="0"/>
              <a:t>Thank you for your attention</a:t>
            </a:r>
            <a:endParaRPr lang="en-CM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168DDD-156D-E4F1-F797-02C9F866EF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80518" y="5196920"/>
            <a:ext cx="8596668" cy="860400"/>
          </a:xfrm>
        </p:spPr>
        <p:txBody>
          <a:bodyPr/>
          <a:lstStyle/>
          <a:p>
            <a:pPr algn="ctr"/>
            <a:r>
              <a:rPr lang="en-CM" dirty="0"/>
              <a:t>By:</a:t>
            </a:r>
          </a:p>
          <a:p>
            <a:pPr algn="ctr"/>
            <a:r>
              <a:rPr lang="en-CM" dirty="0"/>
              <a:t>Victor Djiembou</a:t>
            </a:r>
          </a:p>
        </p:txBody>
      </p:sp>
    </p:spTree>
    <p:extLst>
      <p:ext uri="{BB962C8B-B14F-4D97-AF65-F5344CB8AC3E}">
        <p14:creationId xmlns:p14="http://schemas.microsoft.com/office/powerpoint/2010/main" val="2299464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857</TotalTime>
  <Words>196</Words>
  <Application>Microsoft Macintosh PowerPoint</Application>
  <PresentationFormat>Widescreen</PresentationFormat>
  <Paragraphs>40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Times New Roman</vt:lpstr>
      <vt:lpstr>Trebuchet MS</vt:lpstr>
      <vt:lpstr>Wingdings 3</vt:lpstr>
      <vt:lpstr>Facet</vt:lpstr>
      <vt:lpstr>Prediction of cost-sensitive bank credit risk using descriptors extracted from graphs</vt:lpstr>
      <vt:lpstr>Table of contents</vt:lpstr>
      <vt:lpstr>Context</vt:lpstr>
      <vt:lpstr>Problem</vt:lpstr>
      <vt:lpstr>Solution idea</vt:lpstr>
      <vt:lpstr>Multi-layer graph modeling</vt:lpstr>
      <vt:lpstr>Framework</vt:lpstr>
      <vt:lpstr>Data and Descriptions (GERMAN Dataset)</vt:lpstr>
      <vt:lpstr>Building a multi-layer graph</vt:lpstr>
      <vt:lpstr>Source Code Exploration</vt:lpstr>
      <vt:lpstr>Results and interpretations</vt:lpstr>
      <vt:lpstr>Thank you for your attention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Prediction du risque de credit bancaire sensible aux couts financiers en integrant des descripteurs extraits des graphes</dc:title>
  <dc:creator>Djiembou Tientcheu Victor Nico</dc:creator>
  <cp:lastModifiedBy>Djiembou Tientcheu Victor Nico</cp:lastModifiedBy>
  <cp:revision>4</cp:revision>
  <dcterms:created xsi:type="dcterms:W3CDTF">2024-05-07T14:44:39Z</dcterms:created>
  <dcterms:modified xsi:type="dcterms:W3CDTF">2024-05-14T11:46:44Z</dcterms:modified>
</cp:coreProperties>
</file>